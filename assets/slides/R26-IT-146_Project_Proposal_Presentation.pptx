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84" r:id="rId19"/>
    <p:sldId id="266" r:id="rId20"/>
    <p:sldId id="285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2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28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2A4A"/>
          </a:solidFill>
          <a:ln w="12700">
            <a:solidFill>
              <a:srgbClr val="0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0"/>
            <a:ext cx="1920240" cy="5143500"/>
          </a:xfrm>
          <a:prstGeom prst="rect">
            <a:avLst/>
          </a:prstGeom>
          <a:solidFill>
            <a:srgbClr val="071520"/>
          </a:solidFill>
          <a:ln w="12700">
            <a:solidFill>
              <a:srgbClr val="07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71520"/>
          </a:solidFill>
          <a:ln w="12700">
            <a:solidFill>
              <a:srgbClr val="07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365760"/>
            <a:ext cx="237744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365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IT4010 Research Project – 2026 Jan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7772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IoT Disaster Monitoring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Emergency Response System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" y="23042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· Landslides · Cyclone Impacts  |  Sri Lanka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2761488"/>
            <a:ext cx="5943600" cy="0"/>
          </a:xfrm>
          <a:prstGeom prst="line">
            <a:avLst/>
          </a:prstGeom>
          <a:noFill/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85292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</a:t>
            </a:r>
            <a:r>
              <a:rPr lang="en-US" sz="12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R26-IT-146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31638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Group: </a:t>
            </a:r>
            <a:r>
              <a:rPr lang="en-US" sz="12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– Autonomous Intelligent Machines &amp; Systems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4747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Specialization: </a:t>
            </a:r>
            <a:r>
              <a:rPr lang="en-US" sz="12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(IT)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378561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2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Kapila Dissanayake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9A"/>
                </a:solidFill>
              </a:rPr>
              <a:t>Team: IT22557506 · IT22272386 · IT22638168 · IT22284716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&amp; 2 — Abstract &amp; Problem Background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</a:rPr>
              <a:t>Abstract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low-cost, explainable, and demonstrable prototype for disaster monitoring &amp; emergency response focused on Floods, Landslides, and Cyclone impacts in Sri Lanka. It integrates low-cost IoT sensor nodes (rainfall, water level, soil moisture), weather forecasts, and crowdsourced citizen reports. A central server runs simple, explainable decision logic (rule-based + lightweight classifiers) and a scoring engine to compute per-area impact scores, maps those scores to risk levels (Low/Medium/High), and dispatches geofenced alerts to citizens and authorities via a mobile/web app and dashboard. The emphasis is on practical feasibility, explainability, and a complete end-to-end demo.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Problem Background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" y="2834640"/>
            <a:ext cx="237744" cy="23774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284378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743200"/>
            <a:ext cx="8183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experiences frequent monsoon and cyclone-driven events causing floods, landslides, and infrastructure failures.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3346704"/>
            <a:ext cx="237744" cy="23774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335584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3255264"/>
            <a:ext cx="8183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national meteorological &amp; hydrological systems provide accurate large-scale forecasting but are sparse for localized, ground-level conditions.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3858768"/>
            <a:ext cx="237744" cy="23774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" y="38679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3767328"/>
            <a:ext cx="8183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communications fail, authorities lack up-to-date situational awareness — rescue teams cannot quickly identify where to go.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4370832"/>
            <a:ext cx="237744" cy="23774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" y="437997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4279392"/>
            <a:ext cx="8183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 low-cost, local sensing + explainable decision support system to provide timely, actionable alerts for citizens and responders.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References: UNDRR Global Assessment (2022), WMO guidelines (2018)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Project Goal, Objectives &amp;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56692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64008" cy="5669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74980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2A8"/>
                </a:solidFill>
              </a:rPr>
              <a:t>Main Goal: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64208" y="749808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demonstrable, low-cost AI-assisted IoT system to detect and notify about flood, landslide, and cyclone impacts at a local (village/ward) scale to improve situational awareness and rescue coordination.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7614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2761488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38404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</a:rPr>
              <a:t>IoT Node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13969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at least one ESP32 IoT node measuring rainfall, water level and soil moisture.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1719072"/>
            <a:ext cx="27614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72968" y="1719072"/>
            <a:ext cx="2761488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64408" y="1828800"/>
            <a:ext cx="38404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64408" y="18288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21608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</a:rPr>
              <a:t>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82696" y="213969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server that ingests sensor, weather and crowdsourced data.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1719072"/>
            <a:ext cx="27614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71616" y="1719072"/>
            <a:ext cx="2761488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63056" y="1828800"/>
            <a:ext cx="38404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18288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0256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</a:rPr>
              <a:t>AI Logic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213969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explainable decision logic to classify risk (Low / Medium / High).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27614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2761488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035808"/>
            <a:ext cx="38404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0358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035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</a:rPr>
              <a:t>App &amp;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3346704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Citizen-facing app to receive alerts and submit reports + authority dashboard for monitoring/response.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72968" y="2926080"/>
            <a:ext cx="276148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72968" y="2926080"/>
            <a:ext cx="2761488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64408" y="3035808"/>
            <a:ext cx="384048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64408" y="30358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21608" y="3035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</a:rPr>
              <a:t>Validate &amp; Demo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82696" y="3346704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system with simulated and available historical data; demonstrate an end-to-end scenario.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89320" y="2926080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989320" y="2926080"/>
            <a:ext cx="2852928" cy="5943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80760" y="29992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3A"/>
                </a:solidFill>
              </a:rPr>
              <a:t>Scope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325526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Prototype-level:  IoT nodes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server or free cloud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mobile/web frontend &amp; dashboard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Cyclone handling is impact-based (NOT forecasting)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Key Contributions / Novelty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Multi-Parameter IoT Node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ESP32 node measures rainfall, water level, and soil moisture — supports flood, landslide and cyclone-impact inference without expensive wind sensors. Cost &lt; $15–25 per node.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160520" cy="5943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94960" y="8686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Impact Scoring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1325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weighted formula combining weather forecasts (Rf, Wf, Pt), local sensor readings (Sr, Sw, Ss), and report credibility (Rc) × vulnerability factor V. Every intermediate value is logged.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16352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4160520" cy="59436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" y="290779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Validation (Image + Sensor)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36499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crowdsourced report verification fused with sensor corroboration to reduce false alarms. CNN classifies severity (0=dry, 1=shallow, 2=deep); result cross-validated with nearest sensor reading.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16352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816352"/>
            <a:ext cx="416052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394960" y="290779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Targeted Alerts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336499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partitioned into polygons (wards/1km² tiles). Alert dispatched only to users whose last GPS falls within a polygon whose impact score exceeds threshold. Minimizes alert fatigue for unaffected populations.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References: Silva et al. (2020); NOAA/WMO impact-based warnings guidance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High-Level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731520"/>
            <a:ext cx="1572768" cy="1828800"/>
          </a:xfrm>
          <a:prstGeom prst="rect">
            <a:avLst/>
          </a:prstGeom>
          <a:solidFill>
            <a:srgbClr val="0A2A4A"/>
          </a:solidFill>
          <a:ln w="25400">
            <a:solidFill>
              <a:srgbClr val="0A7EA4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731520"/>
            <a:ext cx="1572768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877824"/>
            <a:ext cx="365760" cy="36576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886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31673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Nodes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· water level · soil moisture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5–15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65376" y="1444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731520"/>
            <a:ext cx="1572768" cy="1828800"/>
          </a:xfrm>
          <a:prstGeom prst="rect">
            <a:avLst/>
          </a:prstGeom>
          <a:solidFill>
            <a:srgbClr val="0A2A4A"/>
          </a:solidFill>
          <a:ln w="25400">
            <a:solidFill>
              <a:srgbClr val="1A7A3A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731520"/>
            <a:ext cx="1572768" cy="54864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15184" y="877824"/>
            <a:ext cx="365760" cy="365760"/>
          </a:xfrm>
          <a:prstGeom prst="ellipse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15184" y="886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84832" y="131673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Ingest 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1810512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or MQTT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/ingest/sensor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84448" y="1444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30752" y="731520"/>
            <a:ext cx="1572768" cy="1828800"/>
          </a:xfrm>
          <a:prstGeom prst="rect">
            <a:avLst/>
          </a:prstGeom>
          <a:solidFill>
            <a:srgbClr val="0A2A4A"/>
          </a:solidFill>
          <a:ln w="25400">
            <a:solidFill>
              <a:srgbClr val="8B1A5E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30752" y="731520"/>
            <a:ext cx="1572768" cy="54864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34256" y="877824"/>
            <a:ext cx="365760" cy="365760"/>
          </a:xfrm>
          <a:prstGeom prst="ellipse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34256" y="886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03904" y="131673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03904" y="1810512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noise · deltas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Firebase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1444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49824" y="731520"/>
            <a:ext cx="1572768" cy="1828800"/>
          </a:xfrm>
          <a:prstGeom prst="rect">
            <a:avLst/>
          </a:prstGeom>
          <a:solidFill>
            <a:srgbClr val="0A2A4A"/>
          </a:solidFill>
          <a:ln w="25400">
            <a:solidFill>
              <a:srgbClr val="E8A02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49824" y="731520"/>
            <a:ext cx="1572768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53328" y="877824"/>
            <a:ext cx="365760" cy="3657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53328" y="886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22976" y="131673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22976" y="1810512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classifier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22592" y="1444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68896" y="731520"/>
            <a:ext cx="1572768" cy="1828800"/>
          </a:xfrm>
          <a:prstGeom prst="rect">
            <a:avLst/>
          </a:prstGeom>
          <a:solidFill>
            <a:srgbClr val="0A2A4A"/>
          </a:solidFill>
          <a:ln w="25400">
            <a:solidFill>
              <a:srgbClr val="065A82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68896" y="731520"/>
            <a:ext cx="1572768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0" y="87782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0" y="886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42048" y="1316736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Dispatcher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42048" y="1810512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→ FCM push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→ Server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94560" y="2743200"/>
            <a:ext cx="0" cy="347472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 → Server (reports, SOS)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03520" y="2697480"/>
            <a:ext cx="1143000" cy="777240"/>
          </a:xfrm>
          <a:prstGeom prst="rect">
            <a:avLst/>
          </a:prstGeom>
          <a:solidFill>
            <a:srgbClr val="0A2A4A"/>
          </a:solidFill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03520" y="269748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(Citizens)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65392" y="2697480"/>
            <a:ext cx="1143000" cy="777240"/>
          </a:xfrm>
          <a:prstGeom prst="rect">
            <a:avLst/>
          </a:prstGeom>
          <a:solidFill>
            <a:srgbClr val="0A2A4A"/>
          </a:solidFill>
          <a:ln w="1905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65392" y="269748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827264" y="2697480"/>
            <a:ext cx="1143000" cy="777240"/>
          </a:xfrm>
          <a:prstGeom prst="rect">
            <a:avLst/>
          </a:prstGeom>
          <a:solidFill>
            <a:srgbClr val="0A2A4A"/>
          </a:solidFill>
          <a:ln w="1905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827264" y="269748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37490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flow:  sensors + weather + reports  →  preprocess  →  decision/score  →  geofenced alerts  →  dashboard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65760" y="48188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A6A8A"/>
                </a:solidFill>
              </a:rPr>
              <a:t>Reference: Project doc Fig 1.0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Components &amp; Data Flow (Detailed)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60520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41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Node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1338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 reads sensors → packages JSON → sends to /ingest/sensor via HTTP or MQTT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426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every 5–15 min; median filter applied before packaging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fields: node_id, timestamp, rain_mm, water_level_m, soil_moist_pct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1605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160520" cy="5943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18888" y="841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Ingestor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18888" y="11338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Scheduler polls OpenWeatherMap / NOAA API → normalize forecast metrics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18888" y="1426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snapshot: wind_speed, gust, pressure, rain_1h, normalized_values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18888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by scoring engine as forecast_component input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41605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194560"/>
            <a:ext cx="4160520" cy="59436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2578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Filters noise → computes deltas (e.g., water-level delta over last 30 min)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Normalizes all values to 0–1 scale for the scoring engine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163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 rejection: flag readings deviating &gt; 20% from moving median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194560"/>
            <a:ext cx="41605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416052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18888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Decision Layer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18888" y="2578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Rule-based module: immediate triggers on threshold breaches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Tree / Naive Bayes: trained on historical + simulated data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18888" y="3163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Crowdsourced pipeline: image CNN returns severity + confidence → credibility score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39312"/>
            <a:ext cx="41605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639312"/>
            <a:ext cx="4160520" cy="594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4048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Weighted linear combination → Impact Score 0–100 → risk mapping (Low/Med/High)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4048" y="4315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forecast_component + local_component + report_component × vulnerability_factor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" y="46085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weights configurable; intermediate values logged for explainability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39312"/>
            <a:ext cx="416052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09160" y="3639312"/>
            <a:ext cx="4160520" cy="5943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18888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&amp; Dashboard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18888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Geofence mapping → target user list → FCM push or local notification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18888" y="4315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dashboard: simulate mode for demo (POST /admin/simulate_warning)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18888" y="46085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App: map of sensors/reports/risks; forms for report submission and SOS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References: Huang et al. (Flood ML); Imran et al. (Crowdsourcing)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Technology Stack (Exact)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2788920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786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ESP32/ESP8266 dev boards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45389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Rain sensor module (YL-83/FC-37)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Ultrasonic/pressure water-level sensor (JSN-SR04T)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167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Soil moisture sensor (capacitive v1.2)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71323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713232"/>
            <a:ext cx="2788920" cy="5943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786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Firmware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1097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Arduino (C++) or MicroPython for ESP32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45389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POST (JSON) or MQTT (Mosquitto)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Median filter + sanity checks on-device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2167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Retry buffer for offline periods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71323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44768" y="713232"/>
            <a:ext cx="2788920" cy="59436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36208" y="786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36208" y="1097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Flask or Node.js Express (either OK)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145389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(document store) or Firebase Realtime/Firestore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36208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Scheduler: APScheduler (Python) or node-cron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21671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endpoints documented in section 10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761488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2761488"/>
            <a:ext cx="278892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" y="314553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— scikit-learn (Decision Tree, Naive Bayes)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" y="35021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TensorFlow/Keras (small CNN / transfer learning)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" y="38587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Scoring engine: pure Python weighted formula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" y="42153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Rule-based logic: configurable threshold dict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761488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0" y="2761488"/>
            <a:ext cx="2788920" cy="594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Push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91840" y="314553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(web) or Flutter (mobile) for citizen app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91840" y="35021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 / Google Maps for risk map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91840" y="38587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Cloud Messaging (FCM) for push notifications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91840" y="42153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Twilio for SMS fallback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44768" y="2761488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44768" y="2761488"/>
            <a:ext cx="2788920" cy="5943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36208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Tools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36208" y="314553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server for demo OR free-tier cloud (Heroku/Railway)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36208" y="35021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/ GitHub for version control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36208" y="38587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Jupyter Notebook for model training &amp; evaluation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36208" y="42153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 + Arduino IDE / PlatformIO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References: Espressif ESP32 manual; TensorFlow/Keras docs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&amp; 9 — Hardware &amp; BOM  +  Database Schema &amp; Collections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Hardware BOM (per node)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83464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1024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024128"/>
            <a:ext cx="1691640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63824" y="102412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24128"/>
            <a:ext cx="804672" cy="347472"/>
          </a:xfrm>
          <a:prstGeom prst="rect">
            <a:avLst/>
          </a:prstGeom>
          <a:solidFill>
            <a:srgbClr val="0D1F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55464" y="102412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" y="1371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board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1371600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63824" y="13716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DEVKIT v1 / WROOM-32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371600"/>
            <a:ext cx="8046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55464" y="13716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 – 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719072"/>
            <a:ext cx="2834640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" y="17190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sensor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1719072"/>
            <a:ext cx="1691640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63824" y="171907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YL-83 / FC-37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1719072"/>
            <a:ext cx="804672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55464" y="171907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066544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" y="2066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Water-level sensor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08960" y="2066544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63824" y="206654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JSN-SR04T (waterproof)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066544"/>
            <a:ext cx="8046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55464" y="206654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– 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414016"/>
            <a:ext cx="2834640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" y="24140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0" y="2414016"/>
            <a:ext cx="1691640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63824" y="241401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v1.2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414016"/>
            <a:ext cx="804672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55464" y="241401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761488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" y="27614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Wires, breadboard, enclosure, power bank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08960" y="2761488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63824" y="276148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761488"/>
            <a:ext cx="8046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55464" y="276148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– 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108960"/>
            <a:ext cx="2834640" cy="347472"/>
          </a:xfrm>
          <a:prstGeom prst="rect">
            <a:avLst/>
          </a:prstGeom>
          <a:solidFill>
            <a:srgbClr val="0A7EA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9184" y="3108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node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08960" y="3108960"/>
            <a:ext cx="1691640" cy="347472"/>
          </a:xfrm>
          <a:prstGeom prst="rect">
            <a:avLst/>
          </a:prstGeom>
          <a:solidFill>
            <a:srgbClr val="0A7EA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163824" y="3108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1–3 nodes + spares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108960"/>
            <a:ext cx="804672" cy="347472"/>
          </a:xfrm>
          <a:prstGeom prst="rect">
            <a:avLst/>
          </a:prstGeom>
          <a:solidFill>
            <a:srgbClr val="0A7EA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55464" y="310896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– 25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0060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Database Schema &amp; Collections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800600" y="1024128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00600" y="1024128"/>
            <a:ext cx="64008" cy="5943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37760" y="10607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937760" y="1307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node_id, timestamp (ISO), rain_mm, water_level_m, soil_moist_pct, raw_payload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4800600" y="1664208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00600" y="1664208"/>
            <a:ext cx="64008" cy="594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37760" y="1700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WeatherSnapshots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937760" y="1947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area_id, wind_speed, gust, pressure, rain_1h, normalized_values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800600" y="2304288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00600" y="2304288"/>
            <a:ext cx="64008" cy="594360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937760" y="2340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937760" y="2587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report_id, user_id, timestamp, lat, lon, photo_url, text, image_severity, image_confidence, credibility_score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4800600" y="2944368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800600" y="2944368"/>
            <a:ext cx="6400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37760" y="2980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937760" y="3227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area_id, timestamp, impact_score (0–100), components {forecast, local, report}, vulnerability_factor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4800600" y="3584448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800600" y="3584448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937760" y="3621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937760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alert_id, area_id, timestamp_sent, recipients_list, severity (Low/Med/High), payload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4800600" y="4224528"/>
            <a:ext cx="4069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800600" y="4224528"/>
            <a:ext cx="64008" cy="594360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937760" y="42611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937760" y="4507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last_lat, last_lon, notification_token, opt_in_flags</a:t>
            </a:r>
            <a:endParaRPr lang="en-US" sz="880" dirty="0"/>
          </a:p>
        </p:txBody>
      </p:sp>
      <p:sp>
        <p:nvSpPr>
          <p:cNvPr id="73" name="Text 71"/>
          <p:cNvSpPr/>
          <p:nvPr/>
        </p:nvSpPr>
        <p:spPr>
          <a:xfrm>
            <a:off x="27432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Design DB indexes: timestamp, area_id, node_id, and geo indexes on user locations for geofencing.  |  Ref: MongoDB geospatial docs.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API Contracts &amp; Sample Payloads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5943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548640" cy="237744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87552" y="8046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3A"/>
                </a:solidFill>
              </a:rPr>
              <a:t>/ingest/sensor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0789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 ESP32 every 5–15 min via HTTP POST or MQTT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353312"/>
            <a:ext cx="3931920" cy="1325880"/>
          </a:xfrm>
          <a:prstGeom prst="rect">
            <a:avLst/>
          </a:prstGeom>
          <a:solidFill>
            <a:srgbClr val="1A284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1408176"/>
            <a:ext cx="3785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"node_id": "esp32-01",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"2026-03-14T10:02Z",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"rain_mm": 12.4,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"water_level_m": 1.45,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"soil_moist_pct": 78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713232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713232"/>
            <a:ext cx="4160520" cy="59436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804672"/>
            <a:ext cx="548640" cy="237744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804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76672" y="8046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5E"/>
                </a:solidFill>
              </a:rPr>
              <a:t>/ingest/report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10789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from citizen mobile/web app with photo upload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353312"/>
            <a:ext cx="3931920" cy="1325880"/>
          </a:xfrm>
          <a:prstGeom prst="rect">
            <a:avLst/>
          </a:prstGeom>
          <a:solidFill>
            <a:srgbClr val="1A284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1408176"/>
            <a:ext cx="3785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"report_id": "rep-001",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"user_id": "u-123",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"2026-03-14T10:03Z",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"lat": 6.9271, "lon": 79.8612,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"photo_url": "https://...",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"road submerged"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53512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953512"/>
            <a:ext cx="416052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044952"/>
            <a:ext cx="548640" cy="2377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044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7552" y="30449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</a:rPr>
              <a:t>/score/area/{area_id}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3192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latest impact_score and component breakdown for dashboard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593592"/>
            <a:ext cx="3931920" cy="1325880"/>
          </a:xfrm>
          <a:prstGeom prst="rect">
            <a:avLst/>
          </a:prstGeom>
          <a:solidFill>
            <a:srgbClr val="1A284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" y="3648456"/>
            <a:ext cx="3785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"impact_score": 54,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"MEDIUM",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{ "forecast": 0.33,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"local": 0.18, "report": 0.09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953512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953512"/>
            <a:ext cx="4160520" cy="594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044952"/>
            <a:ext cx="548640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044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76672" y="30449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/admin/simulate_warning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33192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demo only: injects synthetic weather + sensor data to trigger scoring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593592"/>
            <a:ext cx="3931920" cy="1325880"/>
          </a:xfrm>
          <a:prstGeom prst="rect">
            <a:avLst/>
          </a:prstGeom>
          <a:solidFill>
            <a:srgbClr val="1A284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28032" y="3648456"/>
            <a:ext cx="3785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"area_id": "ward-12",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"override_wind": 0.8,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"override_rain": 0.9,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"override_sensor_delta": 0.7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Document expected fields, units, and required authentication for admin endpoints.  |  Ref: OpenWeatherMap docs.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Impact Scoring Formula (Math + Worked Example)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Input Variables (all normalized 0–1)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1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0241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rainfall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411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4264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4264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wind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11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828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 trend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31136"/>
            <a:ext cx="411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2311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23113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sensor rainfall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04288" y="1024128"/>
            <a:ext cx="411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04288" y="10241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61488" y="10241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delta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4288" y="1426464"/>
            <a:ext cx="411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04288" y="14264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61488" y="14264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04288" y="1828800"/>
            <a:ext cx="411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304288" y="1828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61488" y="1828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credibility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04288" y="2231136"/>
            <a:ext cx="411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04288" y="22311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61488" y="223113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factor (0.2–1.0)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26700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Weights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2944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w_rf=0.25  w_wf=0.20  w_pt=0.10  w_sr=0.20  w_sw=0.15  w_rc=0.10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291840"/>
            <a:ext cx="3977640" cy="1234440"/>
          </a:xfrm>
          <a:prstGeom prst="rect">
            <a:avLst/>
          </a:prstGeom>
          <a:solidFill>
            <a:srgbClr val="1A284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36499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forecast_component = w_rf·Rf + w_wf·Wf + w_pt·Pt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local_component    = w_sr·Sr + w_sw·Sw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report_component   = w_rc·Rc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forecast + local + report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C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impact_score = min(100, int(raw × 100 × V))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4572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</a:rPr>
              <a:t>Risk Mapping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846320"/>
            <a:ext cx="1261872" cy="25603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0–39 → 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00200" y="4846320"/>
            <a:ext cx="126187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600200" y="48463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40–69 → Medium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0" y="4846320"/>
            <a:ext cx="126187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26080" y="48463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70–100 → High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2628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Worked Example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26280" y="1024128"/>
            <a:ext cx="425196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90288" y="102412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0" y="102412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Rf=0.8, Wf=0.5, Pt=0.3, Sr=0.6, Sw=0.4, Rc=0.9, V=0.9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26280" y="1527048"/>
            <a:ext cx="425196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90288" y="15270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forecast_component: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152704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0.25×0.8 + 0.20×0.5 + 0.10×0.3 = 0.2 + 0.1 + 0.03 = 0.33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26280" y="2029968"/>
            <a:ext cx="425196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90288" y="202996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local_component: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35040" y="202996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0.20×0.6 + 0.15×0.4 = 0.12 + 0.06 = 0.18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26280" y="2532888"/>
            <a:ext cx="425196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90288" y="2532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report_component: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35040" y="253288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0.10×0.9 = 0.09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26280" y="3035808"/>
            <a:ext cx="425196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90288" y="30358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303580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 + 0.18 + 0.09 = 0.60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26280" y="3538728"/>
            <a:ext cx="425196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90288" y="353872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impact_score: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035040" y="353872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int(0.60 × 100 × 0.9) = int(54)  →  54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26280" y="4041648"/>
            <a:ext cx="42519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90288" y="4041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035040" y="404164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→ MEDIUM RISK ⚠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7432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Keep weights configurable; show intermediate values in logs for explainability.  |  Ref: NOAA impact-based guidance.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Geofencing &amp; Targeting + Alert Content &amp; 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Geofencing Implementation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64008" cy="5852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060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region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129844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polygons (wards/tiles) or rectangular grid (1 km²). Each polygon has a vulnerability_factor (0.2–1.0) based on historical risk.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64008" cy="5852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" y="17007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users to polygon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" y="193852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user's last GPS location. Only alert users whose polygon's impact score &gt;= threshold.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64008" cy="5852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" y="2340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routing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" y="257860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immediate polygon only  |  MEDIUM → polygon + 1 buffer ring  |  LOW → advisory to district admin.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64008" cy="5852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2980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0624" y="321868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(Python) or turf.js (Node) for point-in-polygon. MongoDB geo indexes for fast querying.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Alert Content &amp; UX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02412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024128"/>
            <a:ext cx="416052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024128"/>
            <a:ext cx="41605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1024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 FLOOD ALERT — HIGH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426464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</a:t>
            </a: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shelter X. Avoid road Y.
</a:t>
            </a: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Score: 78/100  |  rain: 12.4mm  |  water: 1.45m
</a:t>
            </a: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2026-03-14T10:03Z
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651760"/>
            <a:ext cx="173736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26517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I'm safe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9400" y="2651760"/>
            <a:ext cx="214884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Request help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29626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C"/>
                </a:solidFill>
              </a:rPr>
              <a:t>Delivery Channels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3255264"/>
            <a:ext cx="416052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325526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325526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(app must register notification token)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749040"/>
            <a:ext cx="416052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37490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15000" y="374904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message on next open; optional SMS via Twilio (paid)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4242816"/>
            <a:ext cx="416052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424281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15000" y="424281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local language if possible, one-line action oriented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Ref: Crisis communication best practices; GIS basics for geofencing.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Demo Plan  (Step-by-Step Script)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2A8"/>
                </a:solidFill>
              </a:rPr>
              <a:t>Goal: Show complete end-to-end system in ~6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114800" cy="896112"/>
          </a:xfrm>
          <a:prstGeom prst="rect">
            <a:avLst/>
          </a:prstGeom>
          <a:solidFill>
            <a:srgbClr val="0A2A4A"/>
          </a:solidFill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033272"/>
            <a:ext cx="310896" cy="31089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04241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042416"/>
            <a:ext cx="502920" cy="201168"/>
          </a:xfrm>
          <a:prstGeom prst="rect">
            <a:avLst/>
          </a:prstGeom>
          <a:solidFill>
            <a:srgbClr val="D5E8F5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0424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99032" y="10424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 &amp;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399032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 server. Open dashboard. Confirm server shows empty latest values → proves clean start.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984248"/>
            <a:ext cx="4114800" cy="896112"/>
          </a:xfrm>
          <a:prstGeom prst="rect">
            <a:avLst/>
          </a:prstGeom>
          <a:solidFill>
            <a:srgbClr val="0A2A4A"/>
          </a:solidFill>
          <a:ln w="1905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" y="2057400"/>
            <a:ext cx="310896" cy="310896"/>
          </a:xfrm>
          <a:prstGeom prst="ellipse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06654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066544"/>
            <a:ext cx="502920" cy="201168"/>
          </a:xfrm>
          <a:prstGeom prst="rect">
            <a:avLst/>
          </a:prstGeom>
          <a:solidFill>
            <a:srgbClr val="D5E8F5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20665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99032" y="20665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ESP32 Node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2423160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ESP32 or run sensor emulator. Show live sensor stream (rain_mm, water_level_m, soil_moist_pct) arriving and updating on dashboard in real time.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008376"/>
            <a:ext cx="4114800" cy="896112"/>
          </a:xfrm>
          <a:prstGeom prst="rect">
            <a:avLst/>
          </a:prstGeom>
          <a:solidFill>
            <a:srgbClr val="0A2A4A"/>
          </a:solidFill>
          <a:ln w="1905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" y="3081528"/>
            <a:ext cx="310896" cy="310896"/>
          </a:xfrm>
          <a:prstGeom prst="ellipse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09067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3090672"/>
            <a:ext cx="502920" cy="201168"/>
          </a:xfrm>
          <a:prstGeom prst="rect">
            <a:avLst/>
          </a:prstGeom>
          <a:solidFill>
            <a:srgbClr val="D5E8F5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090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99032" y="30906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 with Photo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3447288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test report from mobile app: upload photo → image model estimates severity → credibility score displayed on dashboard. Show report appearing in authority queue.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4032504"/>
            <a:ext cx="4114800" cy="896112"/>
          </a:xfrm>
          <a:prstGeom prst="rect">
            <a:avLst/>
          </a:prstGeom>
          <a:solidFill>
            <a:srgbClr val="0A2A4A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" y="4105656"/>
            <a:ext cx="310896" cy="31089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411480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114800"/>
            <a:ext cx="502920" cy="201168"/>
          </a:xfrm>
          <a:prstGeom prst="rect">
            <a:avLst/>
          </a:prstGeom>
          <a:solidFill>
            <a:srgbClr val="D5E8F5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" y="41148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399032" y="41148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Weather Advisory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" y="4471416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POST /admin/simulate_warning to inject synthetic weather data (high wind + heavy rain). Triggers scoring engine to recalculate impact score upward.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960120"/>
            <a:ext cx="4114800" cy="896112"/>
          </a:xfrm>
          <a:prstGeom prst="rect">
            <a:avLst/>
          </a:prstGeom>
          <a:solidFill>
            <a:srgbClr val="0A2A4A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103327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104241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84648" y="1042416"/>
            <a:ext cx="502920" cy="201168"/>
          </a:xfrm>
          <a:prstGeom prst="rect">
            <a:avLst/>
          </a:prstGeom>
          <a:solidFill>
            <a:srgbClr val="D5E8F5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84648" y="10424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M2 &amp; M4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60720" y="10424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Classification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1399032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scoring engine: intermediate values (forecast, local, report components) + final impact_score rising in logs. Dashboard shows risk level upgrading: LOW → MEDIUM → HIGH.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1984248"/>
            <a:ext cx="4114800" cy="896112"/>
          </a:xfrm>
          <a:prstGeom prst="rect">
            <a:avLst/>
          </a:prstGeom>
          <a:solidFill>
            <a:srgbClr val="0A2A4A"/>
          </a:solidFill>
          <a:ln w="1905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0600" y="2057400"/>
            <a:ext cx="310896" cy="310896"/>
          </a:xfrm>
          <a:prstGeom prst="ellipse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206654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184648" y="2066544"/>
            <a:ext cx="502920" cy="201168"/>
          </a:xfrm>
          <a:prstGeom prst="rect">
            <a:avLst/>
          </a:prstGeom>
          <a:solidFill>
            <a:srgbClr val="D5E8F5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84648" y="20665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760720" y="20665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Alert Delivered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2423160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push notification received on sample device. Alert appears on dashboard with action button. Show that only users in affected polygon receive alert.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3008376"/>
            <a:ext cx="4114800" cy="896112"/>
          </a:xfrm>
          <a:prstGeom prst="rect">
            <a:avLst/>
          </a:prstGeom>
          <a:solidFill>
            <a:srgbClr val="0A2A4A"/>
          </a:solidFill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00600" y="3081528"/>
            <a:ext cx="310896" cy="31089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00600" y="309067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184648" y="3090672"/>
            <a:ext cx="502920" cy="201168"/>
          </a:xfrm>
          <a:prstGeom prst="rect">
            <a:avLst/>
          </a:prstGeom>
          <a:solidFill>
            <a:srgbClr val="D5E8F5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184648" y="3090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60720" y="30906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Logs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00600" y="3447288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M2's comparison: rule-based vs Decision Tree outputs side by side with confusion matrix. Show evaluation logs proving false positive rate. Conclude demo.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Implementation Plan &amp; Timeline (10 Weeks)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1005840" cy="4937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35024" y="713232"/>
            <a:ext cx="7498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35024" y="713232"/>
            <a:ext cx="54864" cy="4937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731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63040" y="950976"/>
            <a:ext cx="7296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· Buy sensors · Repo &amp; folder structure setup · Choose exact stack (Flask vs Node, Firebase vs MongoDB)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1005840" cy="49377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26187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35024" y="1261872"/>
            <a:ext cx="7498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35024" y="1261872"/>
            <a:ext cx="54864" cy="49377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63040" y="1280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Node + Server Ingest (M1)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63040" y="1499616"/>
            <a:ext cx="7296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ESP32 hardware assembly · firmware development · sensor calibration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server ingest endpoints ready: POST /ingest/sensor, POST /ingest/report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810512"/>
            <a:ext cx="1005840" cy="493776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1051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35024" y="1810512"/>
            <a:ext cx="7498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35024" y="1810512"/>
            <a:ext cx="54864" cy="493776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63040" y="1828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 + Report UI (M2, M3)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63040" y="2048256"/>
            <a:ext cx="7296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Rule module + Decision Tree training on historical/simulated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Basic report endpoints &amp; UI scaffolding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359152"/>
            <a:ext cx="1005840" cy="4937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35915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35024" y="2359152"/>
            <a:ext cx="7498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35024" y="2359152"/>
            <a:ext cx="54864" cy="4937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63040" y="2377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CNN + Weather Ingest (M3, M4)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63040" y="2596896"/>
            <a:ext cx="7296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Image model training &amp; integration with credibility fusion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Weather ingest normalization from OpenWeatherMap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907792"/>
            <a:ext cx="1005840" cy="4937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290779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35024" y="2907792"/>
            <a:ext cx="7498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335024" y="2907792"/>
            <a:ext cx="54864" cy="4937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63040" y="29260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Geofencing + Alerts (M4)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463040" y="3145536"/>
            <a:ext cx="7296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Scoring engine implementation + geofencing logic + FCM alert dispatch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scoring output with dispatcher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456432"/>
            <a:ext cx="1005840" cy="49377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45643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35024" y="3456432"/>
            <a:ext cx="7498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335024" y="3456432"/>
            <a:ext cx="54864" cy="49377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63040" y="3474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(All)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463040" y="3694176"/>
            <a:ext cx="7296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flow integration tests · Fix cross-component data format issues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test: sensor → server → score → alert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005072"/>
            <a:ext cx="1005840" cy="4937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00507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335024" y="4005072"/>
            <a:ext cx="7498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35024" y="4005072"/>
            <a:ext cx="54864" cy="4937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463040" y="4023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Metrics (All)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463040" y="4242816"/>
            <a:ext cx="7296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evaluation: confusion matrices · latency measurements · false positive rates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all metrics; finalize figures for report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553712"/>
            <a:ext cx="1005840" cy="49377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55371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335024" y="4553712"/>
            <a:ext cx="7498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335024" y="4553712"/>
            <a:ext cx="54864" cy="49377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463040" y="45720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Prep + Report (All)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463040" y="4791456"/>
            <a:ext cx="7296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rehearsal · Record backup demo video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slides · Submit final report (Ch1–Ch6 + Appendix)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5102352"/>
            <a:ext cx="8595360" cy="0"/>
          </a:xfrm>
          <a:prstGeom prst="rect">
            <a:avLst/>
          </a:prstGeom>
          <a:solidFill>
            <a:srgbClr val="EDF2F7"/>
          </a:solidFill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F3C"/>
                </a:solidFill>
              </a:rPr>
              <a:t>⚠  Prioritize end-to-end minimal features first (one node → live alert) then layer in extras. If time is tight, drop SMS and image model training — keep rule-based + demo.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Testing, Evaluation &amp;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Functional Tests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85953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1280160" cy="43891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path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102412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→ server → DB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02412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Measure latency &amp; packet success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17904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17904"/>
            <a:ext cx="1280160" cy="43891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51790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path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27632" y="151790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upload → image classifier → 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517904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Image correctly classified; appears with credibility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8595360" cy="438912"/>
          </a:xfrm>
          <a:prstGeom prst="rect">
            <a:avLst/>
          </a:prstGeom>
          <a:solidFill>
            <a:srgbClr val="EDF2F7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1280160" cy="43891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0116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path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27632" y="20116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computed → dispatch → push received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01168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 delivered within 60 seconds of trigger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Evaluation Metrics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889504"/>
            <a:ext cx="2697480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97180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255264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vs rule-based for L/M/H risk classification (confusion matrix)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2889504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54680" y="2889504"/>
            <a:ext cx="2697480" cy="5943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64408" y="297180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64408" y="3255264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alerts not corroborated by sensors. Target: minimize.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889504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2889504"/>
            <a:ext cx="2697480" cy="59436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44768" y="297180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4768" y="3255264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ingest to notify. Target: &lt; 60 seconds for local event.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877056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3877056"/>
            <a:ext cx="269748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" y="395935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" y="4242816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affected users who received the alert.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54680" y="3877056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154680" y="3877056"/>
            <a:ext cx="2697480" cy="594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64408" y="395935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Corroboration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64408" y="4242816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crowdsourced reports verified by nearby sensor readings.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8828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9A"/>
                </a:solidFill>
              </a:rPr>
              <a:t>Collect logs and produce short tables &amp; plots for the final report.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&amp; 18 — Risk Assessment &amp; Mitigations  +  Budget &amp; Procurement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Risk Assessment &amp; Mitigations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0607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Sensor hardware failure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261872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Keep spare sensors; prepare synthetic data generator for demo fallback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17904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517904"/>
            <a:ext cx="64008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15544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Weather API downtime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175564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Cache last forecast snapshot; support simulated warnings via /admin endpoint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64008" cy="438912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336" y="20482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False alarms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2336" y="2249424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Require corroboration (sensor + report OR 2 sensors) for HIGH alerts; tune thresholds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05456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505456"/>
            <a:ext cx="64008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2542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User privacy concerns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2336" y="274320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Opt-in location sharing only; anonymize data in logs and DB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999232"/>
            <a:ext cx="64008" cy="438912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2336" y="30358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Time shortage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2336" y="3236976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Prioritize end-to-end minimal features first; postpone SMS and image model refinement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0" y="713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Budget &amp; Procurement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0" y="1024128"/>
            <a:ext cx="2926080" cy="402336"/>
          </a:xfrm>
          <a:prstGeom prst="rect">
            <a:avLst/>
          </a:prstGeom>
          <a:solidFill>
            <a:srgbClr val="0D1F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58384" y="10241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1024128"/>
            <a:ext cx="1234440" cy="402336"/>
          </a:xfrm>
          <a:prstGeom prst="rect">
            <a:avLst/>
          </a:prstGeom>
          <a:solidFill>
            <a:srgbClr val="0D1F3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84464" y="102412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1444752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58384" y="144475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IoT node (hardware)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1444752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84464" y="1444752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– 25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1865376"/>
            <a:ext cx="292608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58384" y="186537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1–3 nodes + spare sensors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1865376"/>
            <a:ext cx="123444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84464" y="1865376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 – 75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03520" y="2286000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58384" y="228600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push (Firebase free tier)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0" y="2286000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84464" y="2286000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2706624"/>
            <a:ext cx="292608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58384" y="270662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SMS (Twilio)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0" y="2706624"/>
            <a:ext cx="123444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84464" y="2706624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– optional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03520" y="3127248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358384" y="312724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credits (model training)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0" y="3127248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84464" y="312724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03520" y="3547872"/>
            <a:ext cx="292608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58384" y="35478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&amp; documentation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29600" y="3547872"/>
            <a:ext cx="123444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284464" y="3547872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~LKR 3,500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03520" y="3968496"/>
            <a:ext cx="2926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358384" y="39684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for field testing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29600" y="3968496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284464" y="3968496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~LKR 3,000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justification: low-cost nodes demonstrating the concept — not a production system. All software tools (Python, scikit-learn, TensorFlow, Flask, MongoDB) are free &amp; open-source. SLIIT lab facilities cover hardware testing at no extra cost.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&amp; 20 — Limitations &amp; Assumptions  +  Future Improvements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Limitations &amp; Assumptions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1261872" cy="530352"/>
          </a:xfrm>
          <a:prstGeom prst="rect">
            <a:avLst/>
          </a:prstGeom>
          <a:solidFill>
            <a:srgbClr val="E0F4F8"/>
          </a:solidFill>
          <a:ln w="12700">
            <a:solidFill>
              <a:srgbClr val="B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Prototype-level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9344" y="1024128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number of nodes and coverage area — NOT a production national deployment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609344"/>
            <a:ext cx="1261872" cy="530352"/>
          </a:xfrm>
          <a:prstGeom prst="rect">
            <a:avLst/>
          </a:prstGeom>
          <a:solidFill>
            <a:srgbClr val="E0F4F8"/>
          </a:solidFill>
          <a:ln w="12700">
            <a:solidFill>
              <a:srgbClr val="B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609344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accuracy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9344" y="1609344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available weather forecast quality (external API); quality varies by region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1261872" cy="530352"/>
          </a:xfrm>
          <a:prstGeom prst="rect">
            <a:avLst/>
          </a:prstGeom>
          <a:solidFill>
            <a:srgbClr val="E0F4F8"/>
          </a:solidFill>
          <a:ln w="12700">
            <a:solidFill>
              <a:srgbClr val="B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194560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generalization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9344" y="2194560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limited historical/simulated data — may not generalize without more real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79776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1261872" cy="530352"/>
          </a:xfrm>
          <a:prstGeom prst="rect">
            <a:avLst/>
          </a:prstGeom>
          <a:solidFill>
            <a:srgbClr val="E0F4F8"/>
          </a:solidFill>
          <a:ln w="12700">
            <a:solidFill>
              <a:srgbClr val="B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2779776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9344" y="2779776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sufficient mobile connectivity during demo to reach a critical mass of users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1261872" cy="530352"/>
          </a:xfrm>
          <a:prstGeom prst="rect">
            <a:avLst/>
          </a:prstGeom>
          <a:solidFill>
            <a:srgbClr val="E0F4F8"/>
          </a:solidFill>
          <a:ln w="12700">
            <a:solidFill>
              <a:srgbClr val="B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364992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scope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09344" y="3364992"/>
            <a:ext cx="2761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assesses impact of cyclone conditions on ground sensors — does NOT predict cyclone tracks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Future Improvements Roadmap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024128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73168" y="1133856"/>
            <a:ext cx="292608" cy="2926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11430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109728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Integration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38928" y="1371600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multiple distributed IoT nodes with LoRaWAN for larger coverage without Wi-Fi dependency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1773936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73168" y="1883664"/>
            <a:ext cx="292608" cy="292608"/>
          </a:xfrm>
          <a:prstGeom prst="ellipse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73168" y="18928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38928" y="184708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ML Models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2121408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models with more training data; explore lightweight ensemble methods and online learning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523744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73168" y="2633472"/>
            <a:ext cx="292608" cy="292608"/>
          </a:xfrm>
          <a:prstGeom prst="ellipse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73168" y="264261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38928" y="2596896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Feeds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38928" y="2871216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official DMC government feeds and real-time shelter capacity updates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273552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73168" y="3383280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33924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38928" y="334670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SMS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38928" y="3621024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SMS fallback, offline data collection mode, and automatic rescue dispatch integration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4023360"/>
            <a:ext cx="4160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73168" y="4133088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73168" y="41422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38928" y="4096512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Features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38928" y="4370832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community reporting incentives (gamification), multi-language support, and audio alerts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&amp; 23 — Deliverables Checklist  +  Viva / Exam Q&amp;A Cheatsheet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Deliverables &amp; Submission Checklist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24128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024128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Topic Assessment Form (signed) — use the exact doc R26-IT-146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572768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1572768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 link: hardware firmware + backend + ML models + frontend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121408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2121408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photos, wiring diagrams, BOM for each node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670048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2670048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(2–4 minutes) showing end-to-end scenario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1868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3218688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3218688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(Ch1–Ch6) with appendix — follow doc sections &amp; wording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6732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767328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" y="3767328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 &amp; backup demo (pre-recorded)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Viva Q&amp;A Cheatsheet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1024128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1024128"/>
            <a:ext cx="64008" cy="69494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06070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the scoring work?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33502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Weighted linear combination of normalized forecast + local sensor metrics + report credibility, multiplied by vulnerability factor — transparent and logged.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773936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1773936"/>
            <a:ext cx="64008" cy="694944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181051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avoid false alarms?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2084832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Require corroboration: HIGH alert needs sensor + report OR 2 independent sensor nodes. Tune thresholds. Log intermediate values for audit.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523744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2523744"/>
            <a:ext cx="64008" cy="694944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56032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use deep forecasting models?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834640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Undergrad constraints: explainability, limited time, and limited training data. Rule-based + Decision Tree is pragmatic, defensible, and sufficient for this scope.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273552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9160" y="3273552"/>
            <a:ext cx="64008" cy="6949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331012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sensors disagree?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3584448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Use majority logic and credibility scoring. Prefer corroborated reports. Notify admins when sensors disagree for manual review.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023360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09160" y="4023360"/>
            <a:ext cx="64008" cy="6949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405993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system's novelty?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334256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 existing system combines low-cost multi-hazard IoT sensing + explainable AI scoring + crowdsourced image validation + geofenced alerts in one integrated platform.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Monitoring &amp; Emergency Response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8138160" cy="0"/>
          </a:xfrm>
          <a:prstGeom prst="line">
            <a:avLst/>
          </a:prstGeom>
          <a:noFill/>
          <a:ln w="254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8138160" cy="34747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0936" y="8412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&amp; Work Breakdown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737360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2435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76856" y="1243584"/>
            <a:ext cx="493776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13432" y="12435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16352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52928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30829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67405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45306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81882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59782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96358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74259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10835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88736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25312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03213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9789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17690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54266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32166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68742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46643" y="1243584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83219" y="1243584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1499616"/>
            <a:ext cx="1737360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7784" y="14996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Planning &amp; Setup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76856" y="1499616"/>
            <a:ext cx="493776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76856" y="1499616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6E"/>
                </a:solidFill>
              </a:rPr>
              <a:t>All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16352" y="1499616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30829" y="1499616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045306" y="1499616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59782" y="1499616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274259" y="1499616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888736" y="1499616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03213" y="1499616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117690" y="1499616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732166" y="1499616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346643" y="1499616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2920" y="1755648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5778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IoT Node (M1)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76856" y="1755648"/>
            <a:ext cx="4937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76856" y="1755648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A4"/>
                </a:solidFill>
              </a:rPr>
              <a:t>M1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16352" y="1755648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430829" y="1755648"/>
            <a:ext cx="614477" cy="256032"/>
          </a:xfrm>
          <a:prstGeom prst="rect">
            <a:avLst/>
          </a:prstGeom>
          <a:solidFill>
            <a:srgbClr val="0A7EA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045306" y="1755648"/>
            <a:ext cx="614477" cy="256032"/>
          </a:xfrm>
          <a:prstGeom prst="rect">
            <a:avLst/>
          </a:prstGeom>
          <a:solidFill>
            <a:srgbClr val="0A7EA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59782" y="1755648"/>
            <a:ext cx="614477" cy="256032"/>
          </a:xfrm>
          <a:prstGeom prst="rect">
            <a:avLst/>
          </a:prstGeom>
          <a:solidFill>
            <a:srgbClr val="0A7EA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274259" y="1755648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888736" y="1755648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03213" y="1755648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17690" y="1755648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732166" y="1755648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346643" y="1755648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02920" y="2011680"/>
            <a:ext cx="1737360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57784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Server Ingest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76856" y="2011680"/>
            <a:ext cx="493776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276856" y="2011680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A4"/>
                </a:solidFill>
              </a:rPr>
              <a:t>All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816352" y="2011680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430829" y="2011680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045306" y="2011680"/>
            <a:ext cx="614477" cy="256032"/>
          </a:xfrm>
          <a:prstGeom prst="rect">
            <a:avLst/>
          </a:prstGeom>
          <a:solidFill>
            <a:srgbClr val="0A7EA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659782" y="2011680"/>
            <a:ext cx="614477" cy="256032"/>
          </a:xfrm>
          <a:prstGeom prst="rect">
            <a:avLst/>
          </a:prstGeom>
          <a:solidFill>
            <a:srgbClr val="0A7EA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274259" y="2011680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888736" y="2011680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503213" y="2011680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117690" y="2011680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732166" y="2011680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346643" y="2011680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02920" y="2267712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57784" y="22677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Risk Classifier (M2)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276856" y="2267712"/>
            <a:ext cx="4937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276856" y="2267712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A"/>
                </a:solidFill>
              </a:rPr>
              <a:t>M2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816352" y="2267712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430829" y="2267712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045306" y="2267712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659782" y="2267712"/>
            <a:ext cx="614477" cy="256032"/>
          </a:xfrm>
          <a:prstGeom prst="rect">
            <a:avLst/>
          </a:prstGeom>
          <a:solidFill>
            <a:srgbClr val="1A7A3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274259" y="2267712"/>
            <a:ext cx="614477" cy="256032"/>
          </a:xfrm>
          <a:prstGeom prst="rect">
            <a:avLst/>
          </a:prstGeom>
          <a:solidFill>
            <a:srgbClr val="1A7A3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888736" y="2267712"/>
            <a:ext cx="614477" cy="256032"/>
          </a:xfrm>
          <a:prstGeom prst="rect">
            <a:avLst/>
          </a:prstGeom>
          <a:solidFill>
            <a:srgbClr val="1A7A3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503213" y="2267712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117690" y="2267712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732166" y="2267712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346643" y="2267712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02920" y="2523744"/>
            <a:ext cx="1737360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57784" y="25237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 App (M3)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276856" y="2523744"/>
            <a:ext cx="493776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276856" y="2523744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1A5E"/>
                </a:solidFill>
              </a:rPr>
              <a:t>M3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816352" y="2523744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430829" y="2523744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045306" y="2523744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659782" y="2523744"/>
            <a:ext cx="614477" cy="256032"/>
          </a:xfrm>
          <a:prstGeom prst="rect">
            <a:avLst/>
          </a:prstGeom>
          <a:solidFill>
            <a:srgbClr val="8B1A5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274259" y="2523744"/>
            <a:ext cx="614477" cy="256032"/>
          </a:xfrm>
          <a:prstGeom prst="rect">
            <a:avLst/>
          </a:prstGeom>
          <a:solidFill>
            <a:srgbClr val="8B1A5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888736" y="2523744"/>
            <a:ext cx="614477" cy="256032"/>
          </a:xfrm>
          <a:prstGeom prst="rect">
            <a:avLst/>
          </a:prstGeom>
          <a:solidFill>
            <a:srgbClr val="8B1A5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503213" y="2523744"/>
            <a:ext cx="614477" cy="256032"/>
          </a:xfrm>
          <a:prstGeom prst="rect">
            <a:avLst/>
          </a:prstGeom>
          <a:solidFill>
            <a:srgbClr val="8B1A5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117690" y="2523744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732166" y="2523744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346643" y="2523744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02920" y="2779776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57784" y="27797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Weather+Alerts (M4)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276856" y="2779776"/>
            <a:ext cx="4937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2276856" y="2779776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820"/>
                </a:solidFill>
              </a:rPr>
              <a:t>M4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816352" y="2779776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430829" y="2779776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4045306" y="2779776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4659782" y="2779776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274259" y="2779776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888736" y="2779776"/>
            <a:ext cx="614477" cy="256032"/>
          </a:xfrm>
          <a:prstGeom prst="rect">
            <a:avLst/>
          </a:prstGeom>
          <a:solidFill>
            <a:srgbClr val="E0782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6503213" y="2779776"/>
            <a:ext cx="614477" cy="256032"/>
          </a:xfrm>
          <a:prstGeom prst="rect">
            <a:avLst/>
          </a:prstGeom>
          <a:solidFill>
            <a:srgbClr val="E0782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7117690" y="2779776"/>
            <a:ext cx="614477" cy="256032"/>
          </a:xfrm>
          <a:prstGeom prst="rect">
            <a:avLst/>
          </a:prstGeom>
          <a:solidFill>
            <a:srgbClr val="E0782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7732166" y="2779776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346643" y="2779776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502920" y="3035808"/>
            <a:ext cx="1737360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557784" y="30358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Integration Tests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2276856" y="3035808"/>
            <a:ext cx="493776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2276856" y="3035808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6E"/>
                </a:solidFill>
              </a:rPr>
              <a:t>All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816352" y="3035808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430829" y="3035808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045306" y="3035808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659782" y="3035808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274259" y="3035808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888736" y="3035808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503213" y="3035808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7117690" y="3035808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7732166" y="3035808"/>
            <a:ext cx="614477" cy="256032"/>
          </a:xfrm>
          <a:prstGeom prst="rect">
            <a:avLst/>
          </a:prstGeom>
          <a:solidFill>
            <a:srgbClr val="1E3A6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8346643" y="3035808"/>
            <a:ext cx="614477" cy="256032"/>
          </a:xfrm>
          <a:prstGeom prst="rect">
            <a:avLst/>
          </a:prstGeom>
          <a:solidFill>
            <a:srgbClr val="F2F4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02920" y="3291840"/>
            <a:ext cx="1737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557784" y="3291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Evaluation &amp; Report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276856" y="3291840"/>
            <a:ext cx="4937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2276856" y="3291840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</a:rPr>
              <a:t>All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2816352" y="3291840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430829" y="3291840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4045306" y="3291840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4659782" y="3291840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274259" y="3291840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5888736" y="3291840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6503213" y="3291840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117690" y="3291840"/>
            <a:ext cx="61447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732166" y="3291840"/>
            <a:ext cx="614477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346643" y="3291840"/>
            <a:ext cx="614477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502920" y="373075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E"/>
                </a:solidFill>
              </a:rPr>
              <a:t>Work Breakdown Structure — Key Deliverables per Member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502920" y="4023360"/>
            <a:ext cx="1979676" cy="1063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02920" y="4023360"/>
            <a:ext cx="1979676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557784" y="4023360"/>
            <a:ext cx="18882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IT22557506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594360" y="4407408"/>
            <a:ext cx="18333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 + firmware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diagram + BOM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demo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2537460" y="4023360"/>
            <a:ext cx="1979676" cy="1063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2537460" y="4023360"/>
            <a:ext cx="1979676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2592324" y="4023360"/>
            <a:ext cx="18882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IT22272386</a:t>
            </a:r>
            <a:endParaRPr lang="en-US" sz="950" dirty="0"/>
          </a:p>
        </p:txBody>
      </p:sp>
      <p:sp>
        <p:nvSpPr>
          <p:cNvPr id="150" name="Text 148"/>
          <p:cNvSpPr/>
          <p:nvPr/>
        </p:nvSpPr>
        <p:spPr>
          <a:xfrm>
            <a:off x="2628900" y="4407408"/>
            <a:ext cx="18333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/risk/area/{id}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vs DT report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4572000" y="4023360"/>
            <a:ext cx="1979676" cy="1063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572000" y="4023360"/>
            <a:ext cx="1979676" cy="347472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4626864" y="4023360"/>
            <a:ext cx="18882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IT22638168</a:t>
            </a:r>
            <a:endParaRPr lang="en-US" sz="950" dirty="0"/>
          </a:p>
        </p:txBody>
      </p:sp>
      <p:sp>
        <p:nvSpPr>
          <p:cNvPr id="154" name="Text 152"/>
          <p:cNvSpPr/>
          <p:nvPr/>
        </p:nvSpPr>
        <p:spPr>
          <a:xfrm>
            <a:off x="4663440" y="4407408"/>
            <a:ext cx="18333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UI screens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+ notebook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logic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Photo→dashboard demo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6606540" y="4023360"/>
            <a:ext cx="1979676" cy="1063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606540" y="4023360"/>
            <a:ext cx="1979676" cy="347472"/>
          </a:xfrm>
          <a:prstGeom prst="rect">
            <a:avLst/>
          </a:prstGeom>
          <a:solidFill>
            <a:srgbClr val="E07820"/>
          </a:solidFill>
          <a:ln w="12700">
            <a:solidFill>
              <a:srgbClr val="E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6661404" y="4023360"/>
            <a:ext cx="18882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IT22284716</a:t>
            </a:r>
            <a:endParaRPr lang="en-US" sz="950" dirty="0"/>
          </a:p>
        </p:txBody>
      </p:sp>
      <p:sp>
        <p:nvSpPr>
          <p:cNvPr id="158" name="Text 156"/>
          <p:cNvSpPr/>
          <p:nvPr/>
        </p:nvSpPr>
        <p:spPr>
          <a:xfrm>
            <a:off x="6697980" y="4407408"/>
            <a:ext cx="18333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ingestor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+ FCM dispatch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simulate + demo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201168" y="4754880"/>
            <a:ext cx="59436" cy="594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265176" y="4754880"/>
            <a:ext cx="59436" cy="594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201168" y="4818888"/>
            <a:ext cx="59436" cy="594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329184" y="4818888"/>
            <a:ext cx="59436" cy="594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65176" y="4882896"/>
            <a:ext cx="59436" cy="594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329184" y="4882896"/>
            <a:ext cx="59436" cy="59436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Member-wise Responsibilities &amp; Deliverables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594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95528"/>
            <a:ext cx="329184" cy="32918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79552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</a:rPr>
              <a:t>IT22557506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8096" y="960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Network &amp; Data Acquisition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2435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Responsibilities: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4264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ESP32 node (wiring, code, enclosure)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sensors and sample at configured interval (5–15 min)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901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reliable data transmission (HTTP/MQTT) and retry logic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1396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on-device preprocessing (median filter, sanity checks)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86000" y="124358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Deliverables: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1426464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Hardware photos, wiring diagrams, BOM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86000" y="16642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Firmware source code (GitHub)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0" y="190195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Live demo of node sending data to server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432304"/>
            <a:ext cx="3959352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5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243230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important: Provides ground-truth real-time data needed by ALL other modules.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71323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713232"/>
            <a:ext cx="4160520" cy="5943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795528"/>
            <a:ext cx="329184" cy="329184"/>
          </a:xfrm>
          <a:prstGeom prst="ellipse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80467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02936" y="79552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</a:rPr>
              <a:t>IT22272386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02936" y="960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&amp; Landslide Risk Classification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12435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Responsibilities: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14264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rule thresholds and windows (e.g., rainfall in last 30 min &gt; X)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1664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Decision Tree classifier trained on historical + synthetic data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1901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API returning risk level for area/time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21396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rule-based vs ML outputs and produce confusion matrix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20840" y="124358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Deliverables: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1426464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Code for classifier, training scripts, evaluation plots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20840" y="166420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Endpoint GET /risk/area/{id}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20840" y="190195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Short comparison report: rule-based vs Decision Tree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2432304"/>
            <a:ext cx="3959352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5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55464" y="243230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important: Produces explainable risk classification used in dispatcher &amp; dashboard.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286207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2862072"/>
            <a:ext cx="4160520" cy="59436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" y="2944368"/>
            <a:ext cx="329184" cy="329184"/>
          </a:xfrm>
          <a:prstGeom prst="ellipse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29535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68096" y="294436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</a:rPr>
              <a:t>IT22638168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68096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Reporting &amp; Image Validation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65760" y="33924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Responsibilities: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35753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mobile/web UI for report uploads and SOS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" y="3813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image preprocessing and CNN or transfer learning for water severity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4050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credibility fusion logic (image_confidence + sensor corroboration)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2885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 reports by urgency and credibility score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86000" y="33924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Deliverables: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286000" y="3575304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UI screens, server endpoints, model code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286000" y="381304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Demo: report reaches dashboard with credibility score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286000" y="405079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Code for image classifier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4581144"/>
            <a:ext cx="3959352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5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20624" y="458114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important: Adds ground confirmation and reduces false positives.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286207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709160" y="2862072"/>
            <a:ext cx="4160520" cy="594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00600" y="2944368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00600" y="29535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202936" y="294436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9A"/>
                </a:solidFill>
              </a:rPr>
              <a:t>IT22284716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202936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Impact Evaluation &amp; Alert Prioritization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800600" y="33924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Responsibilities: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800600" y="35753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weather API; normalize forecast metrics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800600" y="3813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weighted scoring engine and vulnerability mapping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800600" y="4050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geofencing and alert dispatch via FCM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800600" y="42885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admin simulate mode for demo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720840" y="33924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F3C"/>
                </a:solidFill>
              </a:rPr>
              <a:t>Deliverables: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720840" y="3575304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Weather ingestor code, scoring module, dispatch module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720840" y="381304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Dashboard panel showing impact scores and alert log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20840" y="405079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Demo script: simulated advisory → targeted alert sent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800600" y="4581144"/>
            <a:ext cx="3959352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5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855464" y="458114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important: Turns forecasts + sensors into actionable, localized emergency alerts.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791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71520"/>
          </a:solidFill>
          <a:ln w="12700">
            <a:solidFill>
              <a:srgbClr val="07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95528"/>
            <a:ext cx="347472" cy="3474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786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07899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faces recurring, preventable disaster casualties driven by delayed situational awareness. The gap is local, real-time environmental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347472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179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179222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ESP32 IoT nodes + explainable AI scoring + citizen crowdsourcing + geofenced alerts — one integrated, end-to-end platform.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21992"/>
            <a:ext cx="347472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2311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50545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4 members owns one critical layer. Together they form a complete pipeline: sense → process → classify → alert.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35224"/>
            <a:ext cx="347472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9443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&amp; defensible.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321868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simple, explainable models — not deep learning. Rule-based + Decision Tree is reliable, auditable, and justified for this scope and data availability.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48456"/>
            <a:ext cx="347472" cy="347472"/>
          </a:xfrm>
          <a:prstGeom prst="rect">
            <a:avLst/>
          </a:prstGeom>
          <a:solidFill>
            <a:srgbClr val="8B1A5E"/>
          </a:solidFill>
          <a:ln w="12700">
            <a:solidFill>
              <a:srgbClr val="8B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6576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93192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expansion, more training data, government feed integration, and community incentives for wider deployment across Sri Lanka.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1879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We welcome your questions.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7A9A"/>
                </a:solidFill>
              </a:rPr>
              <a:t>Project R26-IT-146  |  IT22557506 · IT22272386 · IT22638168 · IT22284716  |  SLIIT — March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4402</Words>
  <Application>Microsoft Office PowerPoint</Application>
  <PresentationFormat>On-screen Show (16:9)</PresentationFormat>
  <Paragraphs>619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R26-IT-146 Full Presentation</dc:title>
  <dc:subject>PptxGenJS Presentation</dc:subject>
  <dc:creator>PptxGenJS</dc:creator>
  <cp:lastModifiedBy>LIVERA.S.D it22638168</cp:lastModifiedBy>
  <cp:revision>2</cp:revision>
  <dcterms:created xsi:type="dcterms:W3CDTF">2026-03-15T20:10:31Z</dcterms:created>
  <dcterms:modified xsi:type="dcterms:W3CDTF">2026-03-16T07:01:25Z</dcterms:modified>
</cp:coreProperties>
</file>